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30575" cy="6858000"/>
          </a:xfrm>
          <a:prstGeom prst="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54864" cy="68580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CISCO CUSTOMER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Cisco 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5D4E0"/>
                </a:solidFill>
                <a:latin typeface="Calibri"/>
              </a:rPr>
              <a:t>The AI-powered platform that unifies Support &amp;
Professional Services into one intelligent experience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023360"/>
            <a:ext cx="1280160" cy="54864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Executive Platform Briefing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A4B8"/>
                </a:solidFill>
                <a:latin typeface="Calibri"/>
              </a:rPr>
              <a:t>Plan  ·  Deploy  ·  Manage  ·  Secure  ·  Optimize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5852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H2 FY2026  ·  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FD9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What we will cover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49FD9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299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23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Complexity, fragmentation, and reactive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49FD9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0299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What Cisco IQ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423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One AI front door to Cisco CX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83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49FD9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355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Four strategic pillars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49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Clarity, resilience, resolution,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15468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383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49FD9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355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Platform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749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Insights, assessments, support, automation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056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709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49FD9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6817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Deployment &amp; 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074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SaaS flexibility and measurable value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48056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709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49FD9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6817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Why it matters now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074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From firefighting to foresight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EBC"/>
                </a:solidFill>
                <a:latin typeface="Calibri"/>
              </a:rPr>
              <a:t>Cisco Confidential  ·  Cisco IQ Platform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EBC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FD9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Yesterday’s support model cannot keep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B7C"/>
                </a:solidFill>
                <a:latin typeface="Calibri"/>
              </a:rPr>
              <a:t>IT teams are under pressure from complexity, skills gaps, and rising expectations.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2697480" cy="9144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Fragmented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Multiple portals, tools, and APIs create blind spots and missed signals.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0312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2103120"/>
            <a:ext cx="2697480" cy="9144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Reactive firefighting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Teams respond after impact — instead of preventing issues earlier.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10312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103120"/>
            <a:ext cx="2697480" cy="9144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Context restart tax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7472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Engineers re-explain environments; TAC starts from zero each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10312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2103120"/>
            <a:ext cx="2697480" cy="9144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4688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Aging risk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47472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~40% of top-targeted vulnerabilities hit end-of-life devices.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EBC"/>
                </a:solidFill>
                <a:latin typeface="Calibri"/>
              </a:rPr>
              <a:t>Cisco Confidential  ·  Cisco IQ Platform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EBC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FD9"/>
                </a:solidFill>
                <a:latin typeface="Calibri"/>
              </a:rPr>
              <a:t>PLATFORM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What is Cisco IQ?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463040"/>
          </a:xfrm>
          <a:prstGeom prst="roundRect">
            <a:avLst>
              <a:gd name="adj" fmla="val 8000"/>
            </a:avLst>
          </a:prstGeom>
          <a:solidFill>
            <a:srgbClr val="E6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1F3A"/>
                </a:solidFill>
                <a:latin typeface="Calibri"/>
              </a:rPr>
              <a:t>Cisco IQ is an AI-powered digital platform that consolidates portals, tools, and APIs into a single intelligent interface — the one front door to Cisco Customer Experience (CX)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49FD9"/>
                </a:solidFill>
                <a:latin typeface="Calibri"/>
              </a:rPr>
              <a:t>Unified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Support + Professional Services in one AI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657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49FD9"/>
                </a:solidFill>
                <a:latin typeface="Calibri"/>
              </a:rPr>
              <a:t>Agentic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114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Agents adapt to each customer’s unique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657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49FD9"/>
                </a:solidFill>
                <a:latin typeface="Calibri"/>
              </a:rPr>
              <a:t>Institutional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114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40+ years of Cisco expertise encoded and 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657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49FD9"/>
                </a:solidFill>
                <a:latin typeface="Calibri"/>
              </a:rPr>
              <a:t>Human oversight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114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AI surfaces insights; humans decide; Cisco accountable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EBC"/>
                </a:solidFill>
                <a:latin typeface="Calibri"/>
              </a:rPr>
              <a:t>Cisco Confidential  ·  Cisco IQ Platform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EBC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EB"/>
                </a:solidFill>
                <a:latin typeface="Calibri"/>
              </a:rPr>
              <a:t>LEADERSHIP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“Cisco IQ is our boldest step yet in reimagining how customers interact with Cisco — from planning and design to optimization and transformation.”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CEB"/>
                </a:solidFill>
                <a:latin typeface="Calibri"/>
              </a:rPr>
              <a:t>Liz Centoni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EC0"/>
                </a:solidFill>
                <a:latin typeface="Calibri"/>
              </a:rPr>
              <a:t>EVP &amp; Chief Customer Experience Officer, Cisco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EA2"/>
                </a:solidFill>
                <a:latin typeface="Calibri"/>
              </a:rPr>
              <a:t>Cisco Confidential  ·  Cisco IQ Platform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8EA2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FD9"/>
                </a:solidFill>
                <a:latin typeface="Calibri"/>
              </a:rPr>
              <a:t>STRATEGIC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Four pillars of Cisco IQ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9728" cy="96012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3911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49FD9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Landscape Clarity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96596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Real-time, benchmarked view of every Cisco asset, configuration, and risk — including peer posture comparisons.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8036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109728" cy="96012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363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49FD9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Proactive Resilience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6324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Prioritized risks before business impact. Not 400 alerts — a ranked action list with evidence and reasoning.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4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77640"/>
            <a:ext cx="109728" cy="96012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3367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49FD9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Rapid 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16052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Full environment context at case open. TAC briefs itself. Collapse resolution from hours to minutes.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74919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074919"/>
            <a:ext cx="109728" cy="96012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330951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49FD9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12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Contextualized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257799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Global expert experience embedded in workflows across the full lifecycle — plan to optimize.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EBC"/>
                </a:solidFill>
                <a:latin typeface="Calibri"/>
              </a:rPr>
              <a:t>Cisco Confidential  ·  Cisco IQ Platform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EBC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FD9"/>
                </a:solidFill>
                <a:latin typeface="Calibri"/>
              </a:rPr>
              <a:t>PLATFORM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Core modules that deliver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788920" cy="39319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2788920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Predictive Asset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▸  Unified inventory &amp; lifecycle milestones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▸  Field notices &amp; security advisories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▸  Last day of support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74519"/>
            <a:ext cx="2788920" cy="39319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874519"/>
            <a:ext cx="2788920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05740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Adaptive Assessments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92608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▸  Security, config, compliance checks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▸  Regulatory &amp; quantum readiness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▸  Prioritized remediation plans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74519"/>
            <a:ext cx="2788920" cy="39319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874519"/>
            <a:ext cx="2788920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AI-Powered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2608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▸  Modern case &amp; RMA management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▸  AI root-cause assistance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▸  Environment-aware troubleshooting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874519"/>
            <a:ext cx="2788920" cy="39319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874519"/>
            <a:ext cx="2788920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05740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Services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92608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▸  Digital requirements gathering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▸  Migration &amp; documentation automation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▸  Test, validation &amp;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EBC"/>
                </a:solidFill>
                <a:latin typeface="Calibri"/>
              </a:rPr>
              <a:t>Cisco Confidential  ·  Cisco IQ Platform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EBC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FD9"/>
                </a:solidFill>
                <a:latin typeface="Calibri"/>
              </a:rPr>
              <a:t>LIFECYCLE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One connected journey — plan to optimize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788920"/>
            <a:ext cx="9418320" cy="36576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2148840" cy="29260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2468880"/>
            <a:ext cx="685800" cy="685800"/>
          </a:xfrm>
          <a:prstGeom prst="ellipse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60604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Calibri"/>
              </a:rPr>
              <a:t>Assess readiness,
risks &amp; 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194560"/>
            <a:ext cx="2148840" cy="29260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60" y="2468880"/>
            <a:ext cx="685800" cy="685800"/>
          </a:xfrm>
          <a:prstGeom prst="ellipse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60604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38328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93192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Calibri"/>
              </a:rPr>
              <a:t>Accelerate design &amp;
implementation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2194560"/>
            <a:ext cx="2148840" cy="29260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97880" y="2468880"/>
            <a:ext cx="685800" cy="685800"/>
          </a:xfrm>
          <a:prstGeom prst="ellipse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60604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38328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Manage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93192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Calibri"/>
              </a:rPr>
              <a:t>Live inventory &amp;
operational health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194560"/>
            <a:ext cx="2148840" cy="29260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599" y="2468880"/>
            <a:ext cx="685800" cy="685800"/>
          </a:xfrm>
          <a:prstGeom prst="ellipse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260604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39" y="338328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Secure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39" y="393192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Calibri"/>
              </a:rPr>
              <a:t>Advisories, posture
&amp; prioritized fixes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2194560"/>
            <a:ext cx="2148840" cy="29260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61320" y="2468880"/>
            <a:ext cx="685800" cy="685800"/>
          </a:xfrm>
          <a:prstGeom prst="ellipse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61320" y="260604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38328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Optimize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93192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Calibri"/>
              </a:rPr>
              <a:t>Benchmark, automate
&amp; improve outcomes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EBC"/>
                </a:solidFill>
                <a:latin typeface="Calibri"/>
              </a:rPr>
              <a:t>Cisco Confidential  ·  Cisco IQ Platform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EBC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FD9"/>
                </a:solidFill>
                <a:latin typeface="Calibri"/>
              </a:rPr>
              <a:t>DEPLOYMENT FLEXIBILITY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Fits any security and operating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611880" cy="109728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SaaS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26080"/>
            <a:ext cx="2194560" cy="365760"/>
          </a:xfrm>
          <a:prstGeom prst="roundRect">
            <a:avLst>
              <a:gd name="adj" fmla="val 8000"/>
            </a:avLst>
          </a:prstGeom>
          <a:solidFill>
            <a:srgbClr val="E6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49FD9"/>
                </a:solidFill>
                <a:latin typeface="Calibri"/>
              </a:rPr>
              <a:t>Generally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Calibri"/>
              </a:rPr>
              <a:t>Fastest time-to-value. Continuously updated cloud experience with secure connectivity.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6596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65960"/>
            <a:ext cx="3611880" cy="109728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3317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On-Prem Tethered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2926080"/>
            <a:ext cx="2194560" cy="365760"/>
          </a:xfrm>
          <a:prstGeom prst="roundRect">
            <a:avLst>
              <a:gd name="adj" fmla="val 8000"/>
            </a:avLst>
          </a:prstGeom>
          <a:solidFill>
            <a:srgbClr val="E6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971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49FD9"/>
                </a:solidFill>
                <a:latin typeface="Calibri"/>
              </a:rPr>
              <a:t>Controlled hybrid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5661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Calibri"/>
              </a:rPr>
              <a:t>Keep sensitive workloads local while staying connected for intelligence and updates.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96596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965960"/>
            <a:ext cx="3611880" cy="109728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3317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Air-Gapped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2926080"/>
            <a:ext cx="2194560" cy="365760"/>
          </a:xfrm>
          <a:prstGeom prst="roundRect">
            <a:avLst>
              <a:gd name="adj" fmla="val 8000"/>
            </a:avLst>
          </a:prstGeom>
          <a:solidFill>
            <a:srgbClr val="E6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971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49FD9"/>
                </a:solidFill>
                <a:latin typeface="Calibri"/>
              </a:rPr>
              <a:t>Maximum isolation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5661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Calibri"/>
              </a:rPr>
              <a:t>Operate in disconnected environments without compromising governance requirements.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EBC"/>
                </a:solidFill>
                <a:latin typeface="Calibri"/>
              </a:rPr>
              <a:t>Cisco Confidential  ·  Cisco IQ Platform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EBC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FD9"/>
                </a:solidFill>
                <a:latin typeface="Calibri"/>
              </a:rPr>
              <a:t>BUSINESS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What changes for 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28016" cy="173736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Hours →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3463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Calibri"/>
              </a:rPr>
              <a:t>Faster case resolution with environment context already loaded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74519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128016" cy="173736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2402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Reactive → Proactive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83463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Calibri"/>
              </a:rPr>
              <a:t>Ranked risks with evidence before outages and breaches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79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40479"/>
            <a:ext cx="128016" cy="173736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062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Blind spots → Clarity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80059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Calibri"/>
              </a:rPr>
              <a:t>Unified asset, config, and advisory visibility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40479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840479"/>
            <a:ext cx="128016" cy="173736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2062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Opinions →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80059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Calibri"/>
              </a:rPr>
              <a:t>Defensible data for infrastructure &amp; risk conversations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EBC"/>
                </a:solidFill>
                <a:latin typeface="Calibri"/>
              </a:rPr>
              <a:t>Cisco Confidential  ·  Cisco IQ Platform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EB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FD9"/>
                </a:solidFill>
                <a:latin typeface="Calibri"/>
              </a:rPr>
              <a:t>PROOF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Early customer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BCEB"/>
                </a:solidFill>
                <a:latin typeface="Calibri"/>
              </a:rPr>
              <a:t>~90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global customers
already engaged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4884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BCEB"/>
                </a:solidFill>
                <a:latin typeface="Calibri"/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of outages start as
missed misconfigurations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14884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BCEB"/>
                </a:solidFill>
                <a:latin typeface="Calibri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01752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of top-targeted vulns
hit EOL devices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06240"/>
            <a:ext cx="10972800" cy="1554480"/>
          </a:xfrm>
          <a:prstGeom prst="roundRect">
            <a:avLst>
              <a:gd name="adj" fmla="val 8000"/>
            </a:avLst>
          </a:prstGeom>
          <a:solidFill>
            <a:srgbClr val="E6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F3A"/>
                </a:solidFill>
                <a:latin typeface="Calibri"/>
              </a:rPr>
              <a:t>At Nestlé, Cisco IQ gave IT leaders defensible data to have an honest conversation with business stakeholders about aging infrastructure — turning negotiation without evidence into a conversation with proof.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EBC"/>
                </a:solidFill>
                <a:latin typeface="Calibri"/>
              </a:rPr>
              <a:t>Cisco Confidential  ·  Cisco IQ Platform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EB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FD9"/>
                </a:solidFill>
                <a:latin typeface="Calibri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Cisco IQ vs. prior CX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Previous CX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920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EB"/>
                </a:solidFill>
                <a:latin typeface="Calibri"/>
              </a:rPr>
              <a:t>Cisco IQ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10972800" cy="6858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146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Support-focused portal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14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Support + Professional Services, AI-native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10972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004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Often reactive / ticket-centric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200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Proactive, predictive, personalized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10972800" cy="6858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886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Tool-assisted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886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Agentic AI adapted to your environment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389120"/>
            <a:ext cx="10972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572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Multiple portals &amp; fragmented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572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One front door to CX resources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074920"/>
            <a:ext cx="10972800" cy="6858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257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Resolve after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257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Prevent, prioritize, and prove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EBC"/>
                </a:solidFill>
                <a:latin typeface="Calibri"/>
              </a:rPr>
              <a:t>Cisco Confidential  ·  Cisco IQ Platform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EB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9FD9"/>
                </a:solidFill>
                <a:latin typeface="Calibri"/>
              </a:rPr>
              <a:t>CALL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Start using the platform you already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B7C"/>
                </a:solidFill>
                <a:latin typeface="Calibri"/>
              </a:rPr>
              <a:t>For existing Cisco Support &amp; Professional Services customers, Cisco IQ is included — not an add-on budget 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633472"/>
            <a:ext cx="457200" cy="457200"/>
          </a:xfrm>
          <a:prstGeom prst="ellipse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786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Activate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5176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Enable Cisco IQ SaaS for entitled accounts and establish admin ownership.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502152"/>
            <a:ext cx="457200" cy="457200"/>
          </a:xfrm>
          <a:prstGeom prst="ellipse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472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Connect 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52044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Bring assets &amp; telemetry into landscape clarity for immediate risk visibility.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0624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370832"/>
            <a:ext cx="457200" cy="457200"/>
          </a:xfrm>
          <a:prstGeom prst="ellipse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15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Run first assessments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38912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Prioritize security, config, compliance, and EOL exposures with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74919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5239511"/>
            <a:ext cx="457200" cy="457200"/>
          </a:xfrm>
          <a:prstGeom prst="ellipse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03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18464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Operationalize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257799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Use AI-assisted cases so TAC starts with full environment context.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EBC"/>
                </a:solidFill>
                <a:latin typeface="Calibri"/>
              </a:rPr>
              <a:t>Cisco Confidential  ·  Cisco IQ Platform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EB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From firefighting to foresight.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5D4E0"/>
                </a:solidFill>
                <a:latin typeface="Calibri"/>
              </a:rPr>
              <a:t>Cisco IQ turns 40 years of Cisco expertise into a continuous,
proactive, AI-powered customer experience.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1280160" cy="54864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Cisco IQ  ·  One front door to Customer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CEB"/>
                </a:solidFill>
                <a:latin typeface="Calibri"/>
              </a:rPr>
              <a:t>iq.cisco.com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