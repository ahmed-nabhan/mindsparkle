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97D0"/>
                </a:solidFill>
                <a:latin typeface="Calibri"/>
              </a:rPr>
              <a:t>CISCO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Cisco IQ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2D2DE"/>
                </a:solidFill>
                <a:latin typeface="Calibri"/>
              </a:rPr>
              <a:t>AI-powered front door to Cisco Support &amp; Professional Services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2D2DE"/>
                </a:solidFill>
                <a:latin typeface="Calibri"/>
              </a:rPr>
              <a:t>Executive briefing for platform overview and customer activation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463040" cy="4572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9AB0C0"/>
                </a:solidFill>
                <a:latin typeface="Calibri"/>
              </a:rPr>
              <a:t>Plan  ·  Deploy  ·  Manage  ·  Secure  ·  Optimize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9AB0C0"/>
                </a:solidFill>
                <a:latin typeface="Calibri"/>
              </a:rPr>
              <a:t>Generally Available (SaaS)  ·  H2 FY2026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Session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Why reactive support models fail under AI-era 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938528"/>
            <a:ext cx="987552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Platform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What Cisco IQ is — and what it consolidates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670048"/>
            <a:ext cx="987552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Four pillars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834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Clarity, resilience, resolution, contextualized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401568"/>
            <a:ext cx="987552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66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Insights, assessments, AI support, services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133088"/>
            <a:ext cx="987552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Deployment &amp;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976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SaaS / hybrid / air-gapped + measurable 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4864608"/>
            <a:ext cx="987552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D0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29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Activation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029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A5C6E"/>
                </a:solidFill>
                <a:latin typeface="Calibri"/>
              </a:rPr>
              <a:t>How entitled customers start realizing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Yesterday’s support model cannot keep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IT teams face fragmentation, skills pressure, and rising expectations.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532120" cy="1965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109728" cy="1965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Fragmented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Multiple portals, tools, and APIs create blind spots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Incomplete inventory across environments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Signals exist but are missed before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532120" cy="1965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109728" cy="1965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Reactive firefighting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774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Work starts only after disruption hits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Engineers carry high cognitive load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Little capacity left for innovation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886200"/>
            <a:ext cx="5532120" cy="1965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886200"/>
            <a:ext cx="109728" cy="1965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Context restart tax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Teams re-explain the same environment repeatedly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TAC often starts cases from zero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Resolution cycles stay slow and expensive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86200"/>
            <a:ext cx="5532120" cy="1965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886200"/>
            <a:ext cx="109728" cy="1965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D223A"/>
                </a:solidFill>
                <a:latin typeface="Calibri"/>
              </a:rPr>
              <a:t>Aging risk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262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~40% of top-targeted vulns hit EOL devices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Misconfigurations drive a large share of outages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Prioritization happens without clear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PLATFORM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What is Cisco IQ?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10972800" cy="1325880"/>
          </a:xfrm>
          <a:prstGeom prst="rect">
            <a:avLst/>
          </a:prstGeom>
          <a:solidFill>
            <a:srgbClr val="DC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0D223A"/>
                </a:solidFill>
                <a:latin typeface="Calibri"/>
              </a:rPr>
              <a:t>Cisco IQ is an AI-powered digital platform that consolidates portals, tools, and APIs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0D223A"/>
                </a:solidFill>
                <a:latin typeface="Calibri"/>
              </a:rPr>
              <a:t>into one intelligent interface — the single front door to Cisco Customer Experience (CX).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0D223A"/>
                </a:solidFill>
                <a:latin typeface="Calibri"/>
              </a:rPr>
              <a:t>It helps customers plan, deploy, manage, secure, and optimize technology investments.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71800"/>
            <a:ext cx="109728" cy="64008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Unified CX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Support and Professional Services together in one AI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94760"/>
            <a:ext cx="109728" cy="64008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Agentic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4223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Agents adapt continuously to each customer’s unique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617720"/>
            <a:ext cx="109728" cy="64008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40+ years of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6519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Institutional Cisco knowledge encoded and always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440680"/>
            <a:ext cx="109728" cy="64008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864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Governed AI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7881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AI surfaces insights; humans decide; Cisco remains accountable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97D0"/>
                </a:solidFill>
                <a:latin typeface="Calibri"/>
              </a:rPr>
              <a:t>LEADERSHIP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“Cisco IQ is our boldest step yet in reimagining how customers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interact with Cisco — from planning and design to optimization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and transformation.”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97D0"/>
                </a:solidFill>
                <a:latin typeface="Calibri"/>
              </a:rPr>
              <a:t>Liz Centoni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0B2C2"/>
                </a:solidFill>
                <a:latin typeface="Calibri"/>
              </a:rPr>
              <a:t>EVP &amp; Chief Customer Experience Officer, Cisco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STRATEGIC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Four pillars of Cisco IQ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1097280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01  Landscape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Real-time, benchmarked view of Cisco assets, configurations, and risks — including peer posture comparisons by industry and size.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468880"/>
            <a:ext cx="1097280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02  Proactive 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Surfaces and ranks critical risks before business impact. Not hundreds of alerts — a prioritized action list with evidence and reasoning.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66160"/>
            <a:ext cx="1097280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03  Rapid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When a case opens, full environment context is already available. TAC briefs itself. Resolution can move from hours toward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663439"/>
            <a:ext cx="1097280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7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04  Contextualized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39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Global expert experience is embedded into workflows across the lifecycle — helping projects land faster with less rework.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PLATFORM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Core modules that deliver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5532120" cy="2011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5532120" cy="5029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Predictive Asset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Unified inventory tracking across the estate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Lifecycle milestones and Last Day of Support planning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Field notices and security advisories in one view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Real-time visibility for planning conversations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532120" cy="2011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5029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8132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Adaptive Assessments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Security and configuration health checks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Compliance and regulatory assessments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Quantum readiness and custom checks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Prioritized remediation plans with 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5532120" cy="2011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66160"/>
            <a:ext cx="5532120" cy="5029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AI-Powered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Consolidated view of cases and RMAs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AI-assisted root cause analysis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Environment-aware troubleshooting guidance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Faster time to resolution for TAC and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566160"/>
            <a:ext cx="5532120" cy="201168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566160"/>
            <a:ext cx="5532120" cy="5029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6758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Services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0624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Digital requirements gathering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Documentation automation for delivery teams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Technology migration workflows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2B3C"/>
                </a:solidFill>
                <a:latin typeface="Calibri"/>
              </a:rPr>
              <a:t>•  Test, validation, and automation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LIFECYCLE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One connected journey across the technology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1.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Assess readiness, risks, requirements, and quantum/compliance posture before investment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029968"/>
            <a:ext cx="841248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2.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12848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Accelerate design and implementation with expert-aligned workflows and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871216"/>
            <a:ext cx="841248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3. 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54096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Maintain live inventory, operational health, lifecycle milestones, and support entitlement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712464"/>
            <a:ext cx="841248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95344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4. Secure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895344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Track advisories, configuration risk, and prioritized remediation with clear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4553712"/>
            <a:ext cx="8412480" cy="13716"/>
          </a:xfrm>
          <a:prstGeom prst="rect">
            <a:avLst/>
          </a:prstGeom>
          <a:solidFill>
            <a:srgbClr val="C9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97D0"/>
                </a:solidFill>
                <a:latin typeface="Calibri"/>
              </a:rPr>
              <a:t>5. 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36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B3C"/>
                </a:solidFill>
                <a:latin typeface="Calibri"/>
              </a:rPr>
              <a:t>Benchmark peer posture, automate improvements, and prove measurable business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DEPLOYMENT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Fits enterprise security and operating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61188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3611880" cy="73152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97D0"/>
                </a:solidFill>
                <a:latin typeface="Calibri"/>
              </a:rPr>
              <a:t>Generally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3154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Fastest path to value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Continuously updated cloud experience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Secure connectivity to Cisco services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Recommended default for most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61188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611880" cy="73152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45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On-Prem Tethered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97D0"/>
                </a:solidFill>
                <a:latin typeface="Calibri"/>
              </a:rPr>
              <a:t>Controlled 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3154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Sensitive workloads stay local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Connected for intelligence updates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Balances control and currency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Fits regulated hybrid estates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371600"/>
            <a:ext cx="3611880" cy="4251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371600"/>
            <a:ext cx="3611880" cy="73152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Air-Gapped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488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97D0"/>
                </a:solidFill>
                <a:latin typeface="Calibri"/>
              </a:rPr>
              <a:t>Maximum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154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Supports disconnected environments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Strong governance boundaries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Built for high-security zones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•  Aligned to strict operating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BUSINESS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What changes for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5532120" cy="1874519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109728" cy="1874519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Hours →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Case resolution accelerates because environment context is already loaded when support starts.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532120" cy="1874519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109728" cy="1874519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Reactive → Proactive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Risks are ranked with evidence before outages, advisories, and compliance gaps become incidents.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74720"/>
            <a:ext cx="5532120" cy="1874519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74720"/>
            <a:ext cx="109728" cy="1874519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Blind spots →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One inventory and advisory view replaces fragmented portals and partial spreadsheets.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532120" cy="1874519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474720"/>
            <a:ext cx="109728" cy="1874519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79476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223A"/>
                </a:solidFill>
                <a:latin typeface="Calibri"/>
              </a:rPr>
              <a:t>Opinions →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4340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B3C"/>
                </a:solidFill>
                <a:latin typeface="Calibri"/>
              </a:rPr>
              <a:t>IT leaders get defensible data for infrastructure age, risk, and investment conversations.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Public signals and early customer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611880" cy="23317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97D0"/>
                </a:solidFill>
                <a:latin typeface="Calibri"/>
              </a:rPr>
              <a:t>~90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Global customers already engaged with Cisco IQ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611880" cy="23317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97D0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Of outages begin as misconfigurations not caught in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3611880" cy="233172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97D0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Of top-targeted vulnerabilities impacted EOL devices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77640"/>
            <a:ext cx="10972800" cy="1600200"/>
          </a:xfrm>
          <a:prstGeom prst="rect">
            <a:avLst/>
          </a:prstGeom>
          <a:solidFill>
            <a:srgbClr val="DC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D223A"/>
                </a:solidFill>
                <a:latin typeface="Calibri"/>
              </a:rPr>
              <a:t>Customer example (Nestlé): Cisco IQ gave IT leaders defensible data to discuss aging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D223A"/>
                </a:solidFill>
                <a:latin typeface="Calibri"/>
              </a:rPr>
              <a:t>infrastructure with business stakeholders — turning negotiation without evidence into 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D223A"/>
                </a:solidFill>
                <a:latin typeface="Calibri"/>
              </a:rPr>
              <a:t>conversation with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Cisco IQ vs. prior CX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10972800" cy="548640"/>
          </a:xfrm>
          <a:prstGeom prst="rect">
            <a:avLst/>
          </a:prstGeom>
          <a:solidFill>
            <a:srgbClr val="14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08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Previous CX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08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97D0"/>
                </a:solidFill>
                <a:latin typeface="Calibri"/>
              </a:rPr>
              <a:t>Cisco IQ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10972800" cy="7315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223A"/>
                </a:solidFill>
                <a:latin typeface="Calibr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214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Support-focused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214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B3C"/>
                </a:solidFill>
                <a:latin typeface="Calibri"/>
              </a:rPr>
              <a:t>Support + Professional Services, AI-native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10972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52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223A"/>
                </a:solidFill>
                <a:latin typeface="Calibri"/>
              </a:rPr>
              <a:t>Operating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529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Often reactive / ticket-centric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529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B3C"/>
                </a:solidFill>
                <a:latin typeface="Calibri"/>
              </a:rPr>
              <a:t>Proactive, predictive, personalized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383280"/>
            <a:ext cx="10972800" cy="7315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223A"/>
                </a:solidFill>
                <a:latin typeface="Calibri"/>
              </a:rP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844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Tool-assisted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5844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B3C"/>
                </a:solidFill>
                <a:latin typeface="Calibri"/>
              </a:rPr>
              <a:t>Agentic AI adapted to environment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14800"/>
            <a:ext cx="109728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223A"/>
                </a:solidFill>
                <a:latin typeface="Calibri"/>
              </a:rPr>
              <a:t>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3159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Multiple portals &amp;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159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B3C"/>
                </a:solidFill>
                <a:latin typeface="Calibri"/>
              </a:rPr>
              <a:t>One front door to CX 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846320"/>
            <a:ext cx="10972800" cy="7315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47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223A"/>
                </a:solidFill>
                <a:latin typeface="Calibri"/>
              </a:rPr>
              <a:t>Business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0474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Resolve after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0474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B3C"/>
                </a:solidFill>
                <a:latin typeface="Calibri"/>
              </a:rPr>
              <a:t>Prevent, prioritize, and prove 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D0"/>
                </a:solidFill>
                <a:latin typeface="Calibri"/>
              </a:rPr>
              <a:t>CALL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D223A"/>
                </a:solidFill>
                <a:latin typeface="Calibri"/>
              </a:rPr>
              <a:t>Start with the platform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5C6E"/>
                </a:solidFill>
                <a:latin typeface="Calibri"/>
              </a:rPr>
              <a:t>For existing Cisco Support &amp; Professional Services customers, Cisco IQ is included.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828800" cy="36576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640080" cy="822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737360"/>
            <a:ext cx="10195560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84708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Activate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Enable Cisco IQ SaaS for entitled accounts and assign clear admin ownership.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640080" cy="822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743200"/>
            <a:ext cx="10195560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85292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Connect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8211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Bring assets and telemetry into landscape clarity for immediate visibility.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49040"/>
            <a:ext cx="640080" cy="822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749040"/>
            <a:ext cx="10195560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85876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Run assessments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87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Prioritize security, configuration, compliance, and EOL exposures with evidence.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754880"/>
            <a:ext cx="640080" cy="82296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834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754880"/>
            <a:ext cx="10195560" cy="82296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86460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223A"/>
                </a:solidFill>
                <a:latin typeface="Calibri"/>
              </a:rPr>
              <a:t>Operationalize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9379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C6E"/>
                </a:solidFill>
                <a:latin typeface="Calibri"/>
              </a:rPr>
              <a:t>Use AI-assisted cases so TAC starts with full environment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AA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97D0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From firefighting to foresight.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2D2DE"/>
                </a:solidFill>
                <a:latin typeface="Calibri"/>
              </a:rPr>
              <a:t>Cisco IQ turns 40 years of Cisco expertise into a continuous,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C2D2DE"/>
                </a:solidFill>
                <a:latin typeface="Calibri"/>
              </a:rPr>
              <a:t>proactive, AI-powered customer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80560"/>
            <a:ext cx="1463040" cy="45720"/>
          </a:xfrm>
          <a:prstGeom prst="rect">
            <a:avLst/>
          </a:prstGeom>
          <a:solidFill>
            <a:srgbClr val="009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Cisco IQ  ·  One front door to Customer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Next step: iq.cisco.com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Cisco IQ Platform  |  Executive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8C9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